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828800"/>
          </a:xfrm>
          <a:prstGeom prst="rect">
            <a:avLst/>
          </a:prstGeom>
          <a:noFill/>
        </p:spPr>
        <p:txBody>
          <a:bodyPr wrap="square">
            <a:spAutoFit/>
          </a:bodyPr>
          <a:lstStyle/>
          <a:p/>
          <a:p>
            <a:pPr algn="ctr">
              <a:defRPr b="1" sz="4400">
                <a:solidFill>
                  <a:srgbClr val="FFFFFF"/>
                </a:solidFill>
              </a:defRPr>
            </a:pPr>
            <a:r>
              <a:t>Projets de Recherche Opérationnelle</a:t>
            </a:r>
          </a:p>
          <a:p>
            <a:pPr algn="ctr">
              <a:defRPr sz="2400">
                <a:solidFill>
                  <a:srgbClr val="FFA500"/>
                </a:solidFill>
              </a:defRPr>
            </a:pPr>
            <a:r>
              <a:t>VRP | Ordonnancement | Logistique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
            <a:pPr>
              <a:defRPr b="1" sz="3600">
                <a:solidFill>
                  <a:srgbClr val="FFFFFF"/>
                </a:solidFill>
              </a:defRPr>
            </a:pPr>
            <a:r>
              <a:t>Projet 1 : Tournées de Véhicules (VRP)</a:t>
            </a:r>
          </a:p>
        </p:txBody>
      </p:sp>
      <p:sp>
        <p:nvSpPr>
          <p:cNvPr id="4" name="TextBox 3"/>
          <p:cNvSpPr txBox="1"/>
          <p:nvPr/>
        </p:nvSpPr>
        <p:spPr>
          <a:xfrm>
            <a:off x="457200" y="1371600"/>
            <a:ext cx="5029200" cy="1371600"/>
          </a:xfrm>
          <a:prstGeom prst="rect">
            <a:avLst/>
          </a:prstGeom>
          <a:noFill/>
        </p:spPr>
        <p:txBody>
          <a:bodyPr wrap="square">
            <a:spAutoFit/>
          </a:bodyPr>
          <a:lstStyle/>
          <a:p/>
          <a:p>
            <a:pPr>
              <a:defRPr b="1" sz="2000">
                <a:solidFill>
                  <a:srgbClr val="003366"/>
                </a:solidFill>
              </a:defRPr>
            </a:pPr>
            <a:r>
              <a:t>Explication :</a:t>
            </a:r>
          </a:p>
          <a:p>
            <a:pPr>
              <a:defRPr sz="1600"/>
            </a:pPr>
            <a:r>
              <a:t>Le VRP consiste à déterminer les trajets optimaux pour une flotte de véhicules afin de livrer des clients depuis un dépôt. L'objectif est de minimiser la distance totale ou le coût, sans dépasser la capacité de chaque véhicule.</a:t>
            </a:r>
          </a:p>
        </p:txBody>
      </p:sp>
      <p:sp>
        <p:nvSpPr>
          <p:cNvPr id="5" name="TextBox 4"/>
          <p:cNvSpPr txBox="1"/>
          <p:nvPr/>
        </p:nvSpPr>
        <p:spPr>
          <a:xfrm>
            <a:off x="457200" y="2834640"/>
            <a:ext cx="5029200" cy="914400"/>
          </a:xfrm>
          <a:prstGeom prst="rect">
            <a:avLst/>
          </a:prstGeom>
          <a:noFill/>
        </p:spPr>
        <p:txBody>
          <a:bodyPr wrap="square">
            <a:spAutoFit/>
          </a:bodyPr>
          <a:lstStyle/>
          <a:p/>
          <a:p>
            <a:pPr>
              <a:defRPr b="1" sz="2000">
                <a:solidFill>
                  <a:srgbClr val="003366"/>
                </a:solidFill>
              </a:defRPr>
            </a:pPr>
            <a:r>
              <a:t>Outils utilisés :</a:t>
            </a:r>
          </a:p>
          <a:p>
            <a:pPr>
              <a:defRPr sz="1600"/>
            </a:pPr>
            <a:r>
              <a:t>• Langage : Python</a:t>
            </a:r>
            <a:br/>
            <a:r>
              <a:t>• Bibliothèque : Google OR-Tools (RoutingModel)</a:t>
            </a:r>
            <a:br/>
            <a:r>
              <a:t>• Structures : Graphes, Matrices de distances</a:t>
            </a:r>
          </a:p>
        </p:txBody>
      </p:sp>
      <p:sp>
        <p:nvSpPr>
          <p:cNvPr id="6" name="TextBox 5"/>
          <p:cNvSpPr txBox="1"/>
          <p:nvPr/>
        </p:nvSpPr>
        <p:spPr>
          <a:xfrm>
            <a:off x="457200" y="3931920"/>
            <a:ext cx="5029200" cy="1828800"/>
          </a:xfrm>
          <a:prstGeom prst="rect">
            <a:avLst/>
          </a:prstGeom>
          <a:noFill/>
        </p:spPr>
        <p:txBody>
          <a:bodyPr wrap="square">
            <a:spAutoFit/>
          </a:bodyPr>
          <a:lstStyle/>
          <a:p/>
          <a:p>
            <a:pPr>
              <a:defRPr b="1" sz="2000">
                <a:solidFill>
                  <a:srgbClr val="003366"/>
                </a:solidFill>
              </a:defRPr>
            </a:pPr>
            <a:r>
              <a:t>Comment faire :</a:t>
            </a:r>
          </a:p>
          <a:p>
            <a:pPr>
              <a:defRPr sz="1600"/>
            </a:pPr>
            <a:r>
              <a:t>1. Collecter les coordonnées géographiques des clients.</a:t>
            </a:r>
            <a:br/>
            <a:r>
              <a:t>2. Calculer la matrice des distances entre tous les nœuds.</a:t>
            </a:r>
            <a:br/>
            <a:r>
              <a:t>3. Initialiser le modèle OR-Tools avec la capacité des camions.</a:t>
            </a:r>
            <a:br/>
            <a:r>
              <a:t>4. Lancer le solveur pour générer les routes optimales.</a:t>
            </a:r>
          </a:p>
        </p:txBody>
      </p:sp>
      <p:pic>
        <p:nvPicPr>
          <p:cNvPr id="7" name="Picture 6" descr="vrp_concept_1779054591327.png"/>
          <p:cNvPicPr>
            <a:picLocks noChangeAspect="1"/>
          </p:cNvPicPr>
          <p:nvPr/>
        </p:nvPicPr>
        <p:blipFill>
          <a:blip r:embed="rId2"/>
          <a:stretch>
            <a:fillRect/>
          </a:stretch>
        </p:blipFill>
        <p:spPr>
          <a:xfrm>
            <a:off x="5669280" y="1828800"/>
            <a:ext cx="3200400" cy="3200400"/>
          </a:xfrm>
          <a:prstGeom prst="rect">
            <a:avLst/>
          </a:prstGeom>
        </p:spPr>
      </p:pic>
      <p:sp>
        <p:nvSpPr>
          <p:cNvPr id="8" name="Rectangle 7"/>
          <p:cNvSpPr/>
          <p:nvPr/>
        </p:nvSpPr>
        <p:spPr>
          <a:xfrm>
            <a:off x="0" y="6675120"/>
            <a:ext cx="9144000" cy="182880"/>
          </a:xfrm>
          <a:prstGeom prst="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
            <a:pPr>
              <a:defRPr b="1" sz="3600">
                <a:solidFill>
                  <a:srgbClr val="FFFFFF"/>
                </a:solidFill>
              </a:defRPr>
            </a:pPr>
            <a:r>
              <a:t>Projet 2 : Ordonnancement de Machines</a:t>
            </a:r>
          </a:p>
        </p:txBody>
      </p:sp>
      <p:sp>
        <p:nvSpPr>
          <p:cNvPr id="4" name="TextBox 3"/>
          <p:cNvSpPr txBox="1"/>
          <p:nvPr/>
        </p:nvSpPr>
        <p:spPr>
          <a:xfrm>
            <a:off x="457200" y="1371600"/>
            <a:ext cx="5029200" cy="1371600"/>
          </a:xfrm>
          <a:prstGeom prst="rect">
            <a:avLst/>
          </a:prstGeom>
          <a:noFill/>
        </p:spPr>
        <p:txBody>
          <a:bodyPr wrap="square">
            <a:spAutoFit/>
          </a:bodyPr>
          <a:lstStyle/>
          <a:p/>
          <a:p>
            <a:pPr>
              <a:defRPr b="1" sz="2000">
                <a:solidFill>
                  <a:srgbClr val="003366"/>
                </a:solidFill>
              </a:defRPr>
            </a:pPr>
            <a:r>
              <a:t>Explication :</a:t>
            </a:r>
          </a:p>
          <a:p>
            <a:pPr>
              <a:defRPr sz="1600"/>
            </a:pPr>
            <a:r>
              <a:t>Ce projet (Job Shop Scheduling) vise à planifier l'exécution de tâches sur un ensemble de machines pour minimiser le 'makespan' (le temps total pour tout terminer), en respectant l'ordre logique d'exécution des tâches.</a:t>
            </a:r>
          </a:p>
        </p:txBody>
      </p:sp>
      <p:sp>
        <p:nvSpPr>
          <p:cNvPr id="5" name="TextBox 4"/>
          <p:cNvSpPr txBox="1"/>
          <p:nvPr/>
        </p:nvSpPr>
        <p:spPr>
          <a:xfrm>
            <a:off x="457200" y="2834640"/>
            <a:ext cx="5029200" cy="914400"/>
          </a:xfrm>
          <a:prstGeom prst="rect">
            <a:avLst/>
          </a:prstGeom>
          <a:noFill/>
        </p:spPr>
        <p:txBody>
          <a:bodyPr wrap="square">
            <a:spAutoFit/>
          </a:bodyPr>
          <a:lstStyle/>
          <a:p/>
          <a:p>
            <a:pPr>
              <a:defRPr b="1" sz="2000">
                <a:solidFill>
                  <a:srgbClr val="003366"/>
                </a:solidFill>
              </a:defRPr>
            </a:pPr>
            <a:r>
              <a:t>Outils utilisés :</a:t>
            </a:r>
          </a:p>
          <a:p>
            <a:pPr>
              <a:defRPr sz="1600"/>
            </a:pPr>
            <a:r>
              <a:t>• Langage : Python</a:t>
            </a:r>
            <a:br/>
            <a:r>
              <a:t>• Bibliothèque : Google OR-Tools (CP-SAT Solver)</a:t>
            </a:r>
            <a:br/>
            <a:r>
              <a:t>• Visualisation : Matplotlib (pour le Gantt)</a:t>
            </a:r>
          </a:p>
        </p:txBody>
      </p:sp>
      <p:sp>
        <p:nvSpPr>
          <p:cNvPr id="6" name="TextBox 5"/>
          <p:cNvSpPr txBox="1"/>
          <p:nvPr/>
        </p:nvSpPr>
        <p:spPr>
          <a:xfrm>
            <a:off x="457200" y="3931920"/>
            <a:ext cx="5029200" cy="1828800"/>
          </a:xfrm>
          <a:prstGeom prst="rect">
            <a:avLst/>
          </a:prstGeom>
          <a:noFill/>
        </p:spPr>
        <p:txBody>
          <a:bodyPr wrap="square">
            <a:spAutoFit/>
          </a:bodyPr>
          <a:lstStyle/>
          <a:p/>
          <a:p>
            <a:pPr>
              <a:defRPr b="1" sz="2000">
                <a:solidFill>
                  <a:srgbClr val="003366"/>
                </a:solidFill>
              </a:defRPr>
            </a:pPr>
            <a:r>
              <a:t>Comment faire :</a:t>
            </a:r>
          </a:p>
          <a:p>
            <a:pPr>
              <a:defRPr sz="1600"/>
            </a:pPr>
            <a:r>
              <a:t>1. Lister les tâches, durées et la machine requise pour chacune.</a:t>
            </a:r>
            <a:br/>
            <a:r>
              <a:t>2. Définir les contraintes disjonctives (1 tâche par machine à la fois).</a:t>
            </a:r>
            <a:br/>
            <a:r>
              <a:t>3. Utiliser le solver CP-SAT pour trouver l'ordre minimisant le temps.</a:t>
            </a:r>
            <a:br/>
            <a:r>
              <a:t>4. Dessiner le résultat final sur un diagramme de Gantt.</a:t>
            </a:r>
          </a:p>
        </p:txBody>
      </p:sp>
      <p:pic>
        <p:nvPicPr>
          <p:cNvPr id="7" name="Picture 6" descr="scheduling_concept_1779054603945.png"/>
          <p:cNvPicPr>
            <a:picLocks noChangeAspect="1"/>
          </p:cNvPicPr>
          <p:nvPr/>
        </p:nvPicPr>
        <p:blipFill>
          <a:blip r:embed="rId2"/>
          <a:stretch>
            <a:fillRect/>
          </a:stretch>
        </p:blipFill>
        <p:spPr>
          <a:xfrm>
            <a:off x="5669280" y="1828800"/>
            <a:ext cx="3200400" cy="3200400"/>
          </a:xfrm>
          <a:prstGeom prst="rect">
            <a:avLst/>
          </a:prstGeom>
        </p:spPr>
      </p:pic>
      <p:sp>
        <p:nvSpPr>
          <p:cNvPr id="8" name="Rectangle 7"/>
          <p:cNvSpPr/>
          <p:nvPr/>
        </p:nvSpPr>
        <p:spPr>
          <a:xfrm>
            <a:off x="0" y="6675120"/>
            <a:ext cx="9144000" cy="182880"/>
          </a:xfrm>
          <a:prstGeom prst="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
            <a:pPr>
              <a:defRPr b="1" sz="3600">
                <a:solidFill>
                  <a:srgbClr val="FFFFFF"/>
                </a:solidFill>
              </a:defRPr>
            </a:pPr>
            <a:r>
              <a:t>Projet 3 : Transport de Poisson</a:t>
            </a:r>
          </a:p>
        </p:txBody>
      </p:sp>
      <p:sp>
        <p:nvSpPr>
          <p:cNvPr id="4" name="TextBox 3"/>
          <p:cNvSpPr txBox="1"/>
          <p:nvPr/>
        </p:nvSpPr>
        <p:spPr>
          <a:xfrm>
            <a:off x="457200" y="1371600"/>
            <a:ext cx="5029200" cy="1371600"/>
          </a:xfrm>
          <a:prstGeom prst="rect">
            <a:avLst/>
          </a:prstGeom>
          <a:noFill/>
        </p:spPr>
        <p:txBody>
          <a:bodyPr wrap="square">
            <a:spAutoFit/>
          </a:bodyPr>
          <a:lstStyle/>
          <a:p/>
          <a:p>
            <a:pPr>
              <a:defRPr b="1" sz="2000">
                <a:solidFill>
                  <a:srgbClr val="003366"/>
                </a:solidFill>
              </a:defRPr>
            </a:pPr>
            <a:r>
              <a:t>Explication :</a:t>
            </a:r>
          </a:p>
          <a:p>
            <a:pPr>
              <a:defRPr sz="1600"/>
            </a:pPr>
            <a:r>
              <a:t>Ce projet logistique concerne l'acheminement de poisson entre Nouadhibou et Nouakchott. Il s'agit d'un VRP avec Fenêtres de Temps (VRPTW) pour garantir que le poisson arrive frais et respecte la chaîne du froid sur 470 km.</a:t>
            </a:r>
          </a:p>
        </p:txBody>
      </p:sp>
      <p:sp>
        <p:nvSpPr>
          <p:cNvPr id="5" name="TextBox 4"/>
          <p:cNvSpPr txBox="1"/>
          <p:nvPr/>
        </p:nvSpPr>
        <p:spPr>
          <a:xfrm>
            <a:off x="457200" y="2834640"/>
            <a:ext cx="5029200" cy="914400"/>
          </a:xfrm>
          <a:prstGeom prst="rect">
            <a:avLst/>
          </a:prstGeom>
          <a:noFill/>
        </p:spPr>
        <p:txBody>
          <a:bodyPr wrap="square">
            <a:spAutoFit/>
          </a:bodyPr>
          <a:lstStyle/>
          <a:p/>
          <a:p>
            <a:pPr>
              <a:defRPr b="1" sz="2000">
                <a:solidFill>
                  <a:srgbClr val="003366"/>
                </a:solidFill>
              </a:defRPr>
            </a:pPr>
            <a:r>
              <a:t>Outils utilisés :</a:t>
            </a:r>
          </a:p>
          <a:p>
            <a:pPr>
              <a:defRPr sz="1600"/>
            </a:pPr>
            <a:r>
              <a:t>• Langage : Python</a:t>
            </a:r>
            <a:br/>
            <a:r>
              <a:t>• Bibliothèque : Google OR-Tools (VRPTW)</a:t>
            </a:r>
            <a:br/>
            <a:r>
              <a:t>• Données : Distances réelles et temps de trajet en Mauritanie</a:t>
            </a:r>
          </a:p>
        </p:txBody>
      </p:sp>
      <p:sp>
        <p:nvSpPr>
          <p:cNvPr id="6" name="TextBox 5"/>
          <p:cNvSpPr txBox="1"/>
          <p:nvPr/>
        </p:nvSpPr>
        <p:spPr>
          <a:xfrm>
            <a:off x="457200" y="3931920"/>
            <a:ext cx="5029200" cy="1828800"/>
          </a:xfrm>
          <a:prstGeom prst="rect">
            <a:avLst/>
          </a:prstGeom>
          <a:noFill/>
        </p:spPr>
        <p:txBody>
          <a:bodyPr wrap="square">
            <a:spAutoFit/>
          </a:bodyPr>
          <a:lstStyle/>
          <a:p/>
          <a:p>
            <a:pPr>
              <a:defRPr b="1" sz="2000">
                <a:solidFill>
                  <a:srgbClr val="003366"/>
                </a:solidFill>
              </a:defRPr>
            </a:pPr>
            <a:r>
              <a:t>Comment faire :</a:t>
            </a:r>
          </a:p>
          <a:p>
            <a:pPr>
              <a:defRPr sz="1600"/>
            </a:pPr>
            <a:r>
              <a:t>1. Modéliser l'axe routier et estimer les temps de trajet.</a:t>
            </a:r>
            <a:br/>
            <a:r>
              <a:t>2. Définir des fenêtres de temps strictes (heures limites d'arrivée).</a:t>
            </a:r>
            <a:br/>
            <a:r>
              <a:t>3. Ajouter la contrainte 'Temps' (Time Dimension) dans OR-Tools.</a:t>
            </a:r>
            <a:br/>
            <a:r>
              <a:t>4. Trouver la solution qui respecte le temps imparti au moindre coût.</a:t>
            </a:r>
          </a:p>
        </p:txBody>
      </p:sp>
      <p:pic>
        <p:nvPicPr>
          <p:cNvPr id="7" name="Picture 6" descr="fish_transport_1779054860327.png"/>
          <p:cNvPicPr>
            <a:picLocks noChangeAspect="1"/>
          </p:cNvPicPr>
          <p:nvPr/>
        </p:nvPicPr>
        <p:blipFill>
          <a:blip r:embed="rId2"/>
          <a:stretch>
            <a:fillRect/>
          </a:stretch>
        </p:blipFill>
        <p:spPr>
          <a:xfrm>
            <a:off x="5669280" y="1828800"/>
            <a:ext cx="3200400" cy="3200400"/>
          </a:xfrm>
          <a:prstGeom prst="rect">
            <a:avLst/>
          </a:prstGeom>
        </p:spPr>
      </p:pic>
      <p:sp>
        <p:nvSpPr>
          <p:cNvPr id="8" name="Rectangle 7"/>
          <p:cNvSpPr/>
          <p:nvPr/>
        </p:nvSpPr>
        <p:spPr>
          <a:xfrm>
            <a:off x="0" y="6675120"/>
            <a:ext cx="9144000" cy="182880"/>
          </a:xfrm>
          <a:prstGeom prst="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